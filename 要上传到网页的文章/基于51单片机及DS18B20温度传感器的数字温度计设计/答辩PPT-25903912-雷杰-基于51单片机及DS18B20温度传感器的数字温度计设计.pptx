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3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4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5.xml" ContentType="application/vnd.openxmlformats-officedocument.presentationml.notesSlid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6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7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8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9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10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11.xml" ContentType="application/vnd.openxmlformats-officedocument.presentationml.notesSlid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12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</p:sldMasterIdLst>
  <p:notesMasterIdLst>
    <p:notesMasterId r:id="rId18"/>
  </p:notesMasterIdLst>
  <p:handoutMasterIdLst>
    <p:handoutMasterId r:id="rId19"/>
  </p:handoutMasterIdLst>
  <p:sldIdLst>
    <p:sldId id="256" r:id="rId5"/>
    <p:sldId id="368" r:id="rId6"/>
    <p:sldId id="398" r:id="rId7"/>
    <p:sldId id="399" r:id="rId8"/>
    <p:sldId id="400" r:id="rId9"/>
    <p:sldId id="391" r:id="rId10"/>
    <p:sldId id="407" r:id="rId11"/>
    <p:sldId id="408" r:id="rId12"/>
    <p:sldId id="381" r:id="rId13"/>
    <p:sldId id="390" r:id="rId14"/>
    <p:sldId id="386" r:id="rId15"/>
    <p:sldId id="406" r:id="rId16"/>
    <p:sldId id="385" r:id="rId17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3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  <p:cmAuthor id="917469724" name="Enchating" initials="E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E9C00"/>
    <a:srgbClr val="000000"/>
    <a:srgbClr val="000099"/>
    <a:srgbClr val="660066"/>
    <a:srgbClr val="003300"/>
    <a:srgbClr val="99CCFF"/>
    <a:srgbClr val="003399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6" d="100"/>
          <a:sy n="86" d="100"/>
        </p:scale>
        <p:origin x="1639" y="62"/>
      </p:cViewPr>
      <p:guideLst>
        <p:guide orient="horz" pos="2131"/>
        <p:guide pos="28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imes New Roman" panose="02020603050405020304" pitchFamily="18" charset="0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imes New Roman" panose="02020603050405020304" pitchFamily="18" charset="0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imes New Roman" panose="02020603050405020304" pitchFamily="18" charset="0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imes New Roman" panose="02020603050405020304" pitchFamily="18" charset="0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imes New Roman" panose="02020603050405020304" pitchFamily="18" charset="0"/>
              </a:rPr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AB632D-46D9-4D6B-AD9C-B49FA7B1C1A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  <p:sp>
        <p:nvSpPr>
          <p:cNvPr id="51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</a:t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12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slideMaster" Target="../slideMasters/slideMaster4.xml"/><Relationship Id="rId5" Type="http://schemas.openxmlformats.org/officeDocument/2006/relationships/tags" Target="../tags/tag13.xml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9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56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6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72EE9D-9689-411A-96A2-320D2701BF83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E98CC7-11A3-447D-8D21-C38918872E5F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18DCE8-A447-4062-8977-89B65B43252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0066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46A104-A6A9-41D7-8900-75736BBEA71D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72EE9D-9689-411A-96A2-320D2701BF83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2025/12/11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E98CC7-11A3-447D-8D21-C38918872E5F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2571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2"/>
            </p:custDataLst>
          </p:nvPr>
        </p:nvSpPr>
        <p:spPr>
          <a:xfrm flipH="1">
            <a:off x="6457950" y="1474230"/>
            <a:ext cx="1322546" cy="1322546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1" name="矩形: 圆顶角 13"/>
          <p:cNvSpPr/>
          <p:nvPr userDrawn="1">
            <p:custDataLst>
              <p:tags r:id="rId3"/>
            </p:custDataLst>
          </p:nvPr>
        </p:nvSpPr>
        <p:spPr>
          <a:xfrm rot="8100000" flipH="1">
            <a:off x="1171003" y="2689667"/>
            <a:ext cx="1522078" cy="287281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0"/>
                  <a:lumOff val="10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>
              <a:cs typeface="MiSans" panose="00000500000000000000" charset="-122"/>
            </a:endParaRPr>
          </a:p>
        </p:txBody>
      </p:sp>
      <p:sp>
        <p:nvSpPr>
          <p:cNvPr id="12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3388938" y="1995645"/>
            <a:ext cx="5043604" cy="65767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buClrTx/>
              <a:buSzTx/>
              <a:buFontTx/>
              <a:buNone/>
              <a:defRPr kumimoji="0" lang="zh-CN" altLang="en-US" sz="165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单击此处编辑母版副标题样式</a:t>
            </a:r>
          </a:p>
        </p:txBody>
      </p:sp>
      <p:sp>
        <p:nvSpPr>
          <p:cNvPr id="13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3150724" y="3042983"/>
            <a:ext cx="5325360" cy="9351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1" i="0" u="none" strike="noStrike" kern="1200" cap="none" spc="30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>
                <a:sym typeface="+mn-ea"/>
              </a:rPr>
              <a:t>此处编辑标题</a:t>
            </a: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6437741" y="4679036"/>
            <a:ext cx="2002631" cy="4307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9" name="矩形: 圆顶角 12"/>
          <p:cNvSpPr/>
          <p:nvPr userDrawn="1">
            <p:custDataLst>
              <p:tags r:id="rId10"/>
            </p:custDataLst>
          </p:nvPr>
        </p:nvSpPr>
        <p:spPr>
          <a:xfrm rot="18900000" flipH="1">
            <a:off x="1398485" y="1470492"/>
            <a:ext cx="1522078" cy="2833272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 dirty="0"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1970" y="450000"/>
            <a:ext cx="8100000" cy="54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1910952"/>
            <a:ext cx="8100000" cy="3655219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2571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3293965" y="2973449"/>
            <a:ext cx="584615" cy="9111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05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</a:p>
        </p:txBody>
      </p:sp>
      <p:sp>
        <p:nvSpPr>
          <p:cNvPr id="17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18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6"/>
            </p:custDataLst>
          </p:nvPr>
        </p:nvSpPr>
        <p:spPr>
          <a:xfrm>
            <a:off x="476" y="3260090"/>
            <a:ext cx="2771299" cy="3597910"/>
          </a:xfrm>
          <a:custGeom>
            <a:avLst/>
            <a:gdLst>
              <a:gd name="connsiteX0" fmla="*/ 736674 w 3699837"/>
              <a:gd name="connsiteY0" fmla="*/ 1 h 3598032"/>
              <a:gd name="connsiteX1" fmla="*/ 1521677 w 3699837"/>
              <a:gd name="connsiteY1" fmla="*/ 325103 h 3598032"/>
              <a:gd name="connsiteX2" fmla="*/ 3699837 w 3699837"/>
              <a:gd name="connsiteY2" fmla="*/ 2503264 h 3598032"/>
              <a:gd name="connsiteX3" fmla="*/ 2605068 w 3699837"/>
              <a:gd name="connsiteY3" fmla="*/ 3598032 h 3598032"/>
              <a:gd name="connsiteX4" fmla="*/ 1654210 w 3699837"/>
              <a:gd name="connsiteY4" fmla="*/ 3598032 h 3598032"/>
              <a:gd name="connsiteX5" fmla="*/ 0 w 3699837"/>
              <a:gd name="connsiteY5" fmla="*/ 1943822 h 3598032"/>
              <a:gd name="connsiteX6" fmla="*/ 144 w 3699837"/>
              <a:gd name="connsiteY6" fmla="*/ 281376 h 3598032"/>
              <a:gd name="connsiteX7" fmla="*/ 35939 w 3699837"/>
              <a:gd name="connsiteY7" fmla="*/ 249020 h 3598032"/>
              <a:gd name="connsiteX8" fmla="*/ 736674 w 3699837"/>
              <a:gd name="connsiteY8" fmla="*/ 1 h 359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9837" h="3598032">
                <a:moveTo>
                  <a:pt x="736674" y="1"/>
                </a:moveTo>
                <a:cubicBezTo>
                  <a:pt x="1020799" y="-24"/>
                  <a:pt x="1304915" y="108342"/>
                  <a:pt x="1521677" y="325103"/>
                </a:cubicBezTo>
                <a:lnTo>
                  <a:pt x="3699837" y="2503264"/>
                </a:lnTo>
                <a:lnTo>
                  <a:pt x="2605068" y="3598032"/>
                </a:lnTo>
                <a:lnTo>
                  <a:pt x="1654210" y="3598032"/>
                </a:lnTo>
                <a:lnTo>
                  <a:pt x="0" y="1943822"/>
                </a:lnTo>
                <a:lnTo>
                  <a:pt x="144" y="281376"/>
                </a:lnTo>
                <a:lnTo>
                  <a:pt x="35939" y="249020"/>
                </a:lnTo>
                <a:cubicBezTo>
                  <a:pt x="239448" y="83031"/>
                  <a:pt x="488064" y="22"/>
                  <a:pt x="736674" y="1"/>
                </a:cubicBezTo>
                <a:close/>
              </a:path>
            </a:pathLst>
          </a:custGeom>
          <a:gradFill flip="none" rotWithShape="1">
            <a:gsLst>
              <a:gs pos="87000">
                <a:schemeClr val="accent1">
                  <a:alpha val="0"/>
                  <a:lumMod val="2000"/>
                  <a:lumOff val="98000"/>
                </a:schemeClr>
              </a:gs>
              <a:gs pos="0">
                <a:schemeClr val="accent1">
                  <a:lumMod val="3000"/>
                  <a:lumOff val="97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" name="任意多边形: 形状 3"/>
          <p:cNvSpPr/>
          <p:nvPr userDrawn="1">
            <p:custDataLst>
              <p:tags r:id="rId7"/>
            </p:custDataLst>
          </p:nvPr>
        </p:nvSpPr>
        <p:spPr>
          <a:xfrm>
            <a:off x="0" y="4176395"/>
            <a:ext cx="2138839" cy="2681605"/>
          </a:xfrm>
          <a:custGeom>
            <a:avLst/>
            <a:gdLst>
              <a:gd name="connsiteX0" fmla="*/ 406010 w 2844974"/>
              <a:gd name="connsiteY0" fmla="*/ 0 h 2696845"/>
              <a:gd name="connsiteX1" fmla="*/ 2543439 w 2844974"/>
              <a:gd name="connsiteY1" fmla="*/ 2137429 h 2696845"/>
              <a:gd name="connsiteX2" fmla="*/ 2822872 w 2844974"/>
              <a:gd name="connsiteY2" fmla="*/ 2606335 h 2696845"/>
              <a:gd name="connsiteX3" fmla="*/ 2844974 w 2844974"/>
              <a:gd name="connsiteY3" fmla="*/ 2696845 h 2696845"/>
              <a:gd name="connsiteX4" fmla="*/ 78 w 2844974"/>
              <a:gd name="connsiteY4" fmla="*/ 2696747 h 2696845"/>
              <a:gd name="connsiteX5" fmla="*/ 0 w 2844974"/>
              <a:gd name="connsiteY5" fmla="*/ 406010 h 2696845"/>
              <a:gd name="connsiteX6" fmla="*/ 406010 w 2844974"/>
              <a:gd name="connsiteY6" fmla="*/ 0 h 269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44974" h="2696845">
                <a:moveTo>
                  <a:pt x="406010" y="0"/>
                </a:moveTo>
                <a:lnTo>
                  <a:pt x="2543439" y="2137429"/>
                </a:lnTo>
                <a:cubicBezTo>
                  <a:pt x="2678919" y="2272909"/>
                  <a:pt x="2772063" y="2434691"/>
                  <a:pt x="2822872" y="2606335"/>
                </a:cubicBezTo>
                <a:lnTo>
                  <a:pt x="2844974" y="2696845"/>
                </a:lnTo>
                <a:lnTo>
                  <a:pt x="78" y="2696747"/>
                </a:lnTo>
                <a:lnTo>
                  <a:pt x="0" y="406010"/>
                </a:lnTo>
                <a:lnTo>
                  <a:pt x="40601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2571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9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3132296" y="3522247"/>
            <a:ext cx="4693444" cy="123396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5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单击编辑标题</a:t>
            </a:r>
          </a:p>
        </p:txBody>
      </p:sp>
      <p:sp>
        <p:nvSpPr>
          <p:cNvPr id="10" name="节编号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799761" y="2123216"/>
            <a:ext cx="3025994" cy="863918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3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编辑节编号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矩形: 圆顶角 12"/>
          <p:cNvSpPr/>
          <p:nvPr userDrawn="1">
            <p:custDataLst>
              <p:tags r:id="rId7"/>
            </p:custDataLst>
          </p:nvPr>
        </p:nvSpPr>
        <p:spPr>
          <a:xfrm rot="2160000" flipH="1">
            <a:off x="1735796" y="2388989"/>
            <a:ext cx="1124036" cy="216212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 dirty="0">
              <a:cs typeface="MiSans" panose="00000500000000000000" charset="-122"/>
              <a:sym typeface="+mn-ea"/>
            </a:endParaRPr>
          </a:p>
        </p:txBody>
      </p:sp>
      <p:sp>
        <p:nvSpPr>
          <p:cNvPr id="15" name="矩形: 圆顶角 13"/>
          <p:cNvSpPr/>
          <p:nvPr userDrawn="1">
            <p:custDataLst>
              <p:tags r:id="rId8"/>
            </p:custDataLst>
          </p:nvPr>
        </p:nvSpPr>
        <p:spPr>
          <a:xfrm rot="12960000" flipH="1">
            <a:off x="1030783" y="2288758"/>
            <a:ext cx="1124036" cy="219229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chemeClr val="accent1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>
              <a:cs typeface="MiSans" panose="00000500000000000000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1970" y="450000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521970" y="1911231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29150" y="1911231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521970" y="191103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521970" y="2341044"/>
            <a:ext cx="3992880" cy="3225207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3"/>
            </p:custDataLst>
          </p:nvPr>
        </p:nvSpPr>
        <p:spPr>
          <a:xfrm>
            <a:off x="4629150" y="191103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4629150" y="2341044"/>
            <a:ext cx="3992880" cy="3225207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21970" y="450000"/>
            <a:ext cx="8100000" cy="540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1970" y="450000"/>
            <a:ext cx="8100000" cy="54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2025/12/11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21970" y="1087279"/>
            <a:ext cx="8101489" cy="4363403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521970" y="1352444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21970" y="450000"/>
            <a:ext cx="8100000" cy="540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2571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2"/>
            </p:custDataLst>
          </p:nvPr>
        </p:nvSpPr>
        <p:spPr>
          <a:xfrm>
            <a:off x="1716424" y="1538892"/>
            <a:ext cx="1322546" cy="1322546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矩形: 圆顶角 12"/>
          <p:cNvSpPr/>
          <p:nvPr userDrawn="1">
            <p:custDataLst>
              <p:tags r:id="rId6"/>
            </p:custDataLst>
          </p:nvPr>
        </p:nvSpPr>
        <p:spPr>
          <a:xfrm rot="2700000" flipH="1" flipV="1">
            <a:off x="6152761" y="2642823"/>
            <a:ext cx="1524833" cy="283840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 dirty="0">
              <a:cs typeface="MiSans" panose="00000500000000000000" charset="-122"/>
              <a:sym typeface="+mn-ea"/>
            </a:endParaRPr>
          </a:p>
        </p:txBody>
      </p:sp>
      <p:sp>
        <p:nvSpPr>
          <p:cNvPr id="17" name="矩形: 圆顶角 13"/>
          <p:cNvSpPr/>
          <p:nvPr userDrawn="1">
            <p:custDataLst>
              <p:tags r:id="rId7"/>
            </p:custDataLst>
          </p:nvPr>
        </p:nvSpPr>
        <p:spPr>
          <a:xfrm rot="13500000" flipH="1" flipV="1">
            <a:off x="5924866" y="1381829"/>
            <a:ext cx="1524833" cy="2878012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>
              <a:cs typeface="MiSans" panose="00000500000000000000" charset="-122"/>
              <a:sym typeface="+mn-ea"/>
            </a:endParaRPr>
          </a:p>
        </p:txBody>
      </p:sp>
      <p:sp>
        <p:nvSpPr>
          <p:cNvPr id="19" name="标题"/>
          <p:cNvSpPr txBox="1">
            <a:spLocks noGrp="1"/>
          </p:cNvSpPr>
          <p:nvPr>
            <p:ph type="title" idx="6" hasCustomPrompt="1"/>
            <p:custDataLst>
              <p:tags r:id="rId8"/>
            </p:custDataLst>
          </p:nvPr>
        </p:nvSpPr>
        <p:spPr>
          <a:xfrm>
            <a:off x="628174" y="2178288"/>
            <a:ext cx="4292441" cy="1037749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5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</a:t>
            </a:r>
            <a:br>
              <a:rPr dirty="0">
                <a:sym typeface="+mn-ea"/>
              </a:rPr>
            </a:br>
            <a:r>
              <a:rPr dirty="0">
                <a:sym typeface="+mn-ea"/>
              </a:rPr>
              <a:t>编辑标题样式</a:t>
            </a:r>
          </a:p>
        </p:txBody>
      </p:sp>
      <p:sp>
        <p:nvSpPr>
          <p:cNvPr id="2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628174" y="4316422"/>
            <a:ext cx="2002631" cy="4307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5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3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2F6A882C-C205-482A-90C3-FF280EB43E2D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11798EBF-35DB-461B-9034-6CCCC80EC3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3E4A0CE2-28D2-4343-BBF8-38ABF6D07DFB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034A98F8-744E-449A-A632-D5CB2C3B232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F11853F3-DA19-494B-A477-7DA8E6D8AC1E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244D675C-3C4F-4C31-A371-8C6208DA0CA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3"/>
            </p:custDataLst>
          </p:nvPr>
        </p:nvSpPr>
        <p:spPr>
          <a:xfrm>
            <a:off x="0" y="857250"/>
            <a:ext cx="9142571" cy="51435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9" name="任意多边形: 形状 8"/>
          <p:cNvSpPr/>
          <p:nvPr userDrawn="1">
            <p:custDataLst>
              <p:tags r:id="rId14"/>
            </p:custDataLst>
          </p:nvPr>
        </p:nvSpPr>
        <p:spPr>
          <a:xfrm flipH="1">
            <a:off x="8024609" y="857250"/>
            <a:ext cx="1117760" cy="630556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80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image" Target="../media/image2.png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image" Target="../media/image4.png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image" Target="../media/image3.png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99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106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10" Type="http://schemas.openxmlformats.org/officeDocument/2006/relationships/image" Target="../media/image2.png"/><Relationship Id="rId4" Type="http://schemas.openxmlformats.org/officeDocument/2006/relationships/tags" Target="../tags/tag107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12" Type="http://schemas.openxmlformats.org/officeDocument/2006/relationships/image" Target="../media/image7.png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image" Target="../media/image2.png"/><Relationship Id="rId5" Type="http://schemas.openxmlformats.org/officeDocument/2006/relationships/tags" Target="../tags/tag114.xml"/><Relationship Id="rId10" Type="http://schemas.openxmlformats.org/officeDocument/2006/relationships/image" Target="../media/image6.jpg"/><Relationship Id="rId4" Type="http://schemas.openxmlformats.org/officeDocument/2006/relationships/tags" Target="../tags/tag11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119.xml"/><Relationship Id="rId7" Type="http://schemas.openxmlformats.org/officeDocument/2006/relationships/image" Target="../media/image2.png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2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3.xml"/><Relationship Id="rId7" Type="http://schemas.openxmlformats.org/officeDocument/2006/relationships/notesSlide" Target="../notesSlides/notesSlide7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8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30.xml"/><Relationship Id="rId10" Type="http://schemas.openxmlformats.org/officeDocument/2006/relationships/image" Target="../media/image11.png"/><Relationship Id="rId4" Type="http://schemas.openxmlformats.org/officeDocument/2006/relationships/tags" Target="../tags/tag129.xm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33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35.xml"/><Relationship Id="rId10" Type="http://schemas.openxmlformats.org/officeDocument/2006/relationships/image" Target="../media/image13.png"/><Relationship Id="rId4" Type="http://schemas.openxmlformats.org/officeDocument/2006/relationships/tags" Target="../tags/tag134.xml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38.xml"/><Relationship Id="rId7" Type="http://schemas.openxmlformats.org/officeDocument/2006/relationships/notesSlide" Target="../notesSlides/notesSlide10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143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48.xml"/><Relationship Id="rId7" Type="http://schemas.openxmlformats.org/officeDocument/2006/relationships/image" Target="../media/image2.png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4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占位符 36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>
          <a:xfrm>
            <a:off x="3898399" y="5805263"/>
            <a:ext cx="1393681" cy="240473"/>
          </a:xfrm>
        </p:spPr>
        <p:txBody>
          <a:bodyPr>
            <a:normAutofit lnSpcReduction="10000"/>
          </a:bodyPr>
          <a:lstStyle/>
          <a:p>
            <a:pPr marL="0" indent="-171450" algn="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ct val="100000"/>
            </a:pPr>
            <a:r>
              <a:rPr altLang="en-US" sz="1650" dirty="0"/>
              <a:t>2025年</a:t>
            </a:r>
            <a:r>
              <a:rPr lang="en-US" altLang="en-US" sz="1650" dirty="0"/>
              <a:t>12</a:t>
            </a:r>
            <a:r>
              <a:rPr altLang="en-US" sz="1650" dirty="0"/>
              <a:t>月</a:t>
            </a:r>
          </a:p>
        </p:txBody>
      </p:sp>
      <p:sp>
        <p:nvSpPr>
          <p:cNvPr id="38" name="标题 37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0" y="4149153"/>
            <a:ext cx="9107170" cy="935131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buSzPct val="100000"/>
            </a:pPr>
            <a:r>
              <a:rPr lang="zh-CN" altLang="en-US" sz="3600" dirty="0"/>
              <a:t>基于</a:t>
            </a:r>
            <a:r>
              <a:rPr lang="en-US" altLang="zh-CN" sz="3600" dirty="0"/>
              <a:t>51</a:t>
            </a:r>
            <a:r>
              <a:rPr lang="zh-CN" altLang="en-US" sz="3600" dirty="0"/>
              <a:t>单片机及</a:t>
            </a:r>
            <a:r>
              <a:rPr lang="en-US" altLang="zh-CN" sz="3600" dirty="0"/>
              <a:t>DS18B20</a:t>
            </a:r>
            <a:r>
              <a:rPr lang="zh-CN" altLang="en-US" sz="3600" dirty="0"/>
              <a:t>温度传感器的数字温度计设计</a:t>
            </a:r>
            <a:endParaRPr altLang="en-US" sz="3600" dirty="0"/>
          </a:p>
        </p:txBody>
      </p:sp>
      <p:sp>
        <p:nvSpPr>
          <p:cNvPr id="39" name="文本占位符 8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>
          <a:xfrm>
            <a:off x="6697937" y="5614968"/>
            <a:ext cx="2002631" cy="4307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/>
          <a:p>
            <a:r>
              <a:rPr altLang="en-US" dirty="0" err="1"/>
              <a:t>指导</a:t>
            </a:r>
            <a:r>
              <a:rPr lang="zh-CN" altLang="en-US" dirty="0"/>
              <a:t>老师</a:t>
            </a:r>
            <a:r>
              <a:rPr altLang="en-US" dirty="0"/>
              <a:t>：</a:t>
            </a:r>
            <a:r>
              <a:rPr lang="zh-CN" altLang="en-US" dirty="0"/>
              <a:t>郭宇</a:t>
            </a:r>
            <a:endParaRPr altLang="en-US" dirty="0"/>
          </a:p>
        </p:txBody>
      </p:sp>
      <p:pic>
        <p:nvPicPr>
          <p:cNvPr id="41" name="图片 40" descr="图片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6830" y="44450"/>
            <a:ext cx="9144000" cy="3143250"/>
          </a:xfrm>
          <a:prstGeom prst="rect">
            <a:avLst/>
          </a:prstGeom>
        </p:spPr>
      </p:pic>
      <p:pic>
        <p:nvPicPr>
          <p:cNvPr id="42" name="图片 41" descr="图片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6195" y="2997200"/>
            <a:ext cx="5230495" cy="1078865"/>
          </a:xfrm>
          <a:prstGeom prst="rect">
            <a:avLst/>
          </a:prstGeom>
        </p:spPr>
      </p:pic>
      <p:sp>
        <p:nvSpPr>
          <p:cNvPr id="2" name="文本占位符 8">
            <a:extLst>
              <a:ext uri="{FF2B5EF4-FFF2-40B4-BE49-F238E27FC236}">
                <a16:creationId xmlns:a16="http://schemas.microsoft.com/office/drawing/2014/main" id="{D5D78072-A942-73FD-48D8-87A3BDB3932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53244" y="5614967"/>
            <a:ext cx="2002631" cy="4307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03860" indent="-15494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9440" indent="-121285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2795" indent="-11176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26465" indent="-9525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汇报人：雷杰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 60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2195736" y="2973449"/>
            <a:ext cx="584615" cy="911102"/>
          </a:xfrm>
        </p:spPr>
        <p:txBody>
          <a:bodyPr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4900" dirty="0"/>
              <a:t>目录</a:t>
            </a:r>
          </a:p>
        </p:txBody>
      </p:sp>
      <p:sp>
        <p:nvSpPr>
          <p:cNvPr id="62" name="序号"/>
          <p:cNvSpPr txBox="1"/>
          <p:nvPr>
            <p:custDataLst>
              <p:tags r:id="rId3"/>
            </p:custDataLst>
          </p:nvPr>
        </p:nvSpPr>
        <p:spPr>
          <a:xfrm>
            <a:off x="3658420" y="1740571"/>
            <a:ext cx="540000" cy="540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7400000" scaled="0"/>
          </a:gradFill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5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rPr>
              <a:t>1</a:t>
            </a:r>
          </a:p>
        </p:txBody>
      </p:sp>
      <p:sp>
        <p:nvSpPr>
          <p:cNvPr id="63" name="标题"/>
          <p:cNvSpPr txBox="1"/>
          <p:nvPr>
            <p:custDataLst>
              <p:tags r:id="rId4"/>
            </p:custDataLst>
          </p:nvPr>
        </p:nvSpPr>
        <p:spPr>
          <a:xfrm>
            <a:off x="4370658" y="1659896"/>
            <a:ext cx="3009653" cy="70135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</a:pPr>
            <a:r>
              <a:rPr lang="zh-CN" altLang="en-US" b="1" u="none" strike="noStrike" spc="300" baseline="0" dirty="0">
                <a:solidFill>
                  <a:schemeClr val="accent1"/>
                </a:solidFill>
                <a:uLnTx/>
                <a:uFillTx/>
                <a:latin typeface="+mn-ea"/>
                <a:ea typeface="+mn-ea"/>
                <a:cs typeface="MiSans" panose="00000500000000000000" charset="-122"/>
              </a:rPr>
              <a:t>课题研究的背景及国内外现状</a:t>
            </a:r>
          </a:p>
        </p:txBody>
      </p:sp>
      <p:sp>
        <p:nvSpPr>
          <p:cNvPr id="64" name="序号"/>
          <p:cNvSpPr txBox="1"/>
          <p:nvPr>
            <p:custDataLst>
              <p:tags r:id="rId5"/>
            </p:custDataLst>
          </p:nvPr>
        </p:nvSpPr>
        <p:spPr>
          <a:xfrm>
            <a:off x="3658420" y="2579528"/>
            <a:ext cx="540000" cy="540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7400000" scaled="0"/>
          </a:gradFill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5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rPr>
              <a:t>2</a:t>
            </a:r>
          </a:p>
        </p:txBody>
      </p:sp>
      <p:sp>
        <p:nvSpPr>
          <p:cNvPr id="65" name="标题"/>
          <p:cNvSpPr txBox="1"/>
          <p:nvPr>
            <p:custDataLst>
              <p:tags r:id="rId6"/>
            </p:custDataLst>
          </p:nvPr>
        </p:nvSpPr>
        <p:spPr>
          <a:xfrm>
            <a:off x="4370658" y="3469160"/>
            <a:ext cx="2385536" cy="4386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</a:pPr>
            <a:r>
              <a:rPr lang="zh-CN" altLang="en-US" b="1" u="none" strike="noStrike" spc="300" baseline="0" dirty="0">
                <a:solidFill>
                  <a:schemeClr val="accent1"/>
                </a:solidFill>
                <a:uLnTx/>
                <a:uFillTx/>
                <a:latin typeface="+mn-ea"/>
                <a:ea typeface="+mn-ea"/>
                <a:cs typeface="MiSans" panose="00000500000000000000" charset="-122"/>
              </a:rPr>
              <a:t>总体方案设计</a:t>
            </a:r>
          </a:p>
        </p:txBody>
      </p:sp>
      <p:sp>
        <p:nvSpPr>
          <p:cNvPr id="66" name="序号"/>
          <p:cNvSpPr txBox="1"/>
          <p:nvPr>
            <p:custDataLst>
              <p:tags r:id="rId7"/>
            </p:custDataLst>
          </p:nvPr>
        </p:nvSpPr>
        <p:spPr>
          <a:xfrm>
            <a:off x="3658420" y="3418486"/>
            <a:ext cx="540000" cy="540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7400000" scaled="0"/>
          </a:gradFill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5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rPr>
              <a:t>3</a:t>
            </a:r>
          </a:p>
        </p:txBody>
      </p:sp>
      <p:sp>
        <p:nvSpPr>
          <p:cNvPr id="68" name="序号"/>
          <p:cNvSpPr txBox="1"/>
          <p:nvPr>
            <p:custDataLst>
              <p:tags r:id="rId8"/>
            </p:custDataLst>
          </p:nvPr>
        </p:nvSpPr>
        <p:spPr>
          <a:xfrm>
            <a:off x="3658420" y="4257443"/>
            <a:ext cx="540000" cy="540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7400000" scaled="0"/>
          </a:gradFill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5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rPr>
              <a:t>4</a:t>
            </a:r>
          </a:p>
        </p:txBody>
      </p:sp>
      <p:sp>
        <p:nvSpPr>
          <p:cNvPr id="70" name="序号"/>
          <p:cNvSpPr txBox="1"/>
          <p:nvPr>
            <p:custDataLst>
              <p:tags r:id="rId9"/>
            </p:custDataLst>
          </p:nvPr>
        </p:nvSpPr>
        <p:spPr>
          <a:xfrm>
            <a:off x="3658420" y="5096401"/>
            <a:ext cx="540000" cy="540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7400000" scaled="0"/>
          </a:gradFill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500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rPr>
              <a:t>5</a:t>
            </a:r>
          </a:p>
        </p:txBody>
      </p:sp>
      <p:sp>
        <p:nvSpPr>
          <p:cNvPr id="71" name="标题"/>
          <p:cNvSpPr txBox="1"/>
          <p:nvPr>
            <p:custDataLst>
              <p:tags r:id="rId10"/>
            </p:custDataLst>
          </p:nvPr>
        </p:nvSpPr>
        <p:spPr>
          <a:xfrm>
            <a:off x="4381696" y="4146078"/>
            <a:ext cx="3225678" cy="7013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</a:pPr>
            <a:r>
              <a:rPr lang="zh-CN" altLang="en-US" b="1" u="none" strike="noStrike" spc="300" baseline="0" dirty="0">
                <a:solidFill>
                  <a:schemeClr val="accent1"/>
                </a:solidFill>
                <a:uLnTx/>
                <a:uFillTx/>
                <a:latin typeface="+mn-ea"/>
                <a:ea typeface="+mn-ea"/>
                <a:cs typeface="MiSans" panose="00000500000000000000" charset="-122"/>
              </a:rPr>
              <a:t>社会、经济效益分析</a:t>
            </a:r>
          </a:p>
        </p:txBody>
      </p:sp>
      <p:pic>
        <p:nvPicPr>
          <p:cNvPr id="72" name="图片 71" descr="图片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9520" y="44450"/>
            <a:ext cx="5230495" cy="1078865"/>
          </a:xfrm>
          <a:prstGeom prst="rect">
            <a:avLst/>
          </a:prstGeom>
        </p:spPr>
      </p:pic>
      <p:sp>
        <p:nvSpPr>
          <p:cNvPr id="2" name="标题">
            <a:extLst>
              <a:ext uri="{FF2B5EF4-FFF2-40B4-BE49-F238E27FC236}">
                <a16:creationId xmlns:a16="http://schemas.microsoft.com/office/drawing/2014/main" id="{A618EB96-ADC9-694B-269F-F38DF65040F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60489" y="5015725"/>
            <a:ext cx="2385536" cy="7013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</a:pPr>
            <a:r>
              <a:rPr lang="zh-CN" altLang="en-US" b="1" spc="300" dirty="0">
                <a:solidFill>
                  <a:schemeClr val="accent1"/>
                </a:solidFill>
                <a:latin typeface="+mn-ea"/>
                <a:ea typeface="+mn-ea"/>
                <a:cs typeface="MiSans" panose="00000500000000000000" charset="-122"/>
              </a:rPr>
              <a:t>未来展望</a:t>
            </a:r>
            <a:endParaRPr lang="zh-CN" altLang="en-US" b="1" u="none" strike="noStrike" spc="300" baseline="0" dirty="0">
              <a:solidFill>
                <a:schemeClr val="accent1"/>
              </a:solidFill>
              <a:uLnTx/>
              <a:uFillTx/>
              <a:latin typeface="+mn-ea"/>
              <a:ea typeface="+mn-ea"/>
              <a:cs typeface="MiSans" panose="00000500000000000000" charset="-122"/>
            </a:endParaRPr>
          </a:p>
        </p:txBody>
      </p:sp>
      <p:sp>
        <p:nvSpPr>
          <p:cNvPr id="3" name="标题 18">
            <a:extLst>
              <a:ext uri="{FF2B5EF4-FFF2-40B4-BE49-F238E27FC236}">
                <a16:creationId xmlns:a16="http://schemas.microsoft.com/office/drawing/2014/main" id="{8A873930-C743-0B14-363C-640C292781F1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4334653" y="2665951"/>
            <a:ext cx="3081661" cy="376917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dirty="0">
                <a:sym typeface="+mn-ea"/>
              </a:rPr>
              <a:t>课题研究背景意义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10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fld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95605" y="1341120"/>
            <a:ext cx="3941445" cy="2443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99795" y="4653136"/>
            <a:ext cx="7556500" cy="13220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rmAutofit fontScale="62500" lnSpcReduction="20000"/>
          </a:bodyPr>
          <a:lstStyle/>
          <a:p>
            <a:r>
              <a:rPr lang="en-US" altLang="zh-CN" dirty="0"/>
              <a:t>        </a:t>
            </a:r>
            <a:r>
              <a:rPr lang="zh-CN" altLang="en-US" sz="2600" b="1" dirty="0"/>
              <a:t>随着工业</a:t>
            </a:r>
            <a:r>
              <a:rPr lang="en-US" altLang="zh-CN" sz="2600" b="1" dirty="0"/>
              <a:t>4.0</a:t>
            </a:r>
            <a:r>
              <a:rPr lang="zh-CN" altLang="en-US" sz="2600" b="1" dirty="0"/>
              <a:t>和物联网技术发展，温度监控系统在工业制造、冷链物流、医疗保健等领域发挥重要作用。当前全球市场达</a:t>
            </a:r>
            <a:r>
              <a:rPr lang="en-US" altLang="zh-CN" sz="2600" b="1" dirty="0"/>
              <a:t>241.8</a:t>
            </a:r>
            <a:r>
              <a:rPr lang="zh-CN" altLang="en-US" sz="2600" b="1" dirty="0"/>
              <a:t>亿元，中国市场</a:t>
            </a:r>
            <a:r>
              <a:rPr lang="en-US" altLang="zh-CN" sz="2600" b="1" dirty="0"/>
              <a:t>81.83</a:t>
            </a:r>
            <a:r>
              <a:rPr lang="zh-CN" altLang="en-US" sz="2600" b="1" dirty="0"/>
              <a:t>亿元，预计</a:t>
            </a:r>
            <a:r>
              <a:rPr lang="en-US" altLang="zh-CN" sz="2600" b="1" dirty="0"/>
              <a:t>2025</a:t>
            </a:r>
            <a:r>
              <a:rPr lang="zh-CN" altLang="en-US" sz="2600" b="1" dirty="0"/>
              <a:t>年达</a:t>
            </a:r>
            <a:r>
              <a:rPr lang="en-US" altLang="zh-CN" sz="2600" b="1" dirty="0"/>
              <a:t>189.4</a:t>
            </a:r>
            <a:r>
              <a:rPr lang="zh-CN" altLang="en-US" sz="2600" b="1" dirty="0"/>
              <a:t>亿元，年增长</a:t>
            </a:r>
            <a:r>
              <a:rPr lang="en-US" altLang="zh-CN" sz="2600" b="1" dirty="0"/>
              <a:t>19.3%</a:t>
            </a:r>
            <a:r>
              <a:rPr lang="zh-CN" altLang="en-US" sz="2600" b="1" dirty="0"/>
              <a:t>，主要应用于工业制造</a:t>
            </a:r>
            <a:r>
              <a:rPr lang="en-US" altLang="zh-CN" sz="2600" b="1" dirty="0"/>
              <a:t>35%</a:t>
            </a:r>
            <a:r>
              <a:rPr lang="zh-CN" altLang="en-US" sz="2600" b="1" dirty="0"/>
              <a:t>、冷链物流</a:t>
            </a:r>
            <a:r>
              <a:rPr lang="en-US" altLang="zh-CN" sz="2600" b="1" dirty="0"/>
              <a:t>25%</a:t>
            </a:r>
            <a:r>
              <a:rPr lang="zh-CN" altLang="en-US" sz="2600" b="1" dirty="0"/>
              <a:t>、医疗保健</a:t>
            </a:r>
            <a:r>
              <a:rPr lang="en-US" altLang="zh-CN" sz="2600" b="1" dirty="0"/>
              <a:t>20%</a:t>
            </a:r>
            <a:r>
              <a:rPr lang="zh-CN" altLang="en-US" sz="2600" b="1" dirty="0"/>
              <a:t>等领域。传统系统存在实时性差、智能化程度低等问题，本研究通过双芯片协同工作架构实现本地控制与网络通信结合，</a:t>
            </a:r>
            <a:r>
              <a:rPr lang="en-US" altLang="zh-CN" sz="2600" b="1" dirty="0"/>
              <a:t>IoT</a:t>
            </a:r>
            <a:r>
              <a:rPr lang="zh-CN" altLang="en-US" sz="2600" b="1" dirty="0"/>
              <a:t>技术普及、</a:t>
            </a:r>
            <a:r>
              <a:rPr lang="en-US" altLang="zh-CN" sz="2600" b="1" dirty="0"/>
              <a:t>AI</a:t>
            </a:r>
            <a:r>
              <a:rPr lang="zh-CN" altLang="en-US" sz="2600" b="1" dirty="0"/>
              <a:t>算法集成、云平台服务成为主要趋势，在政策支持和数字化转型推动下市场前景广阔。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5652120" y="3784600"/>
            <a:ext cx="2361962" cy="412920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r>
              <a:rPr lang="zh-CN" altLang="en-US" sz="1600" b="0" i="0" dirty="0">
                <a:solidFill>
                  <a:srgbClr val="121212"/>
                </a:solidFill>
                <a:effectLst/>
                <a:latin typeface="Inter"/>
              </a:rPr>
              <a:t>全球温度监控系统市场</a:t>
            </a:r>
            <a:endParaRPr lang="zh-CN" altLang="en-US" sz="7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7232" y="1412776"/>
            <a:ext cx="3816752" cy="2375537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52516" y="3827162"/>
            <a:ext cx="3437255" cy="663575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</a:rPr>
              <a:t>工业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</a:rPr>
              <a:t>4.0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</a:rPr>
              <a:t>和物联网技术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13" b="7390"/>
          <a:stretch>
            <a:fillRect/>
          </a:stretch>
        </p:blipFill>
        <p:spPr>
          <a:xfrm>
            <a:off x="4026535" y="1576746"/>
            <a:ext cx="4983480" cy="2088017"/>
          </a:xfrm>
          <a:prstGeom prst="rect">
            <a:avLst/>
          </a:prstGeom>
        </p:spPr>
      </p:pic>
      <p:sp>
        <p:nvSpPr>
          <p:cNvPr id="22" name="标题 2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39750" y="152185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课题研究背景意义</a:t>
            </a:r>
          </a:p>
        </p:txBody>
      </p:sp>
      <p:pic>
        <p:nvPicPr>
          <p:cNvPr id="26" name="图片 25" descr="图片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520" y="44450"/>
            <a:ext cx="5230495" cy="10788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0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fld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605" y="1341120"/>
            <a:ext cx="3941445" cy="2443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077809" y="4198228"/>
            <a:ext cx="5230495" cy="6709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600" b="1" dirty="0"/>
              <a:t>智慧农业（</a:t>
            </a:r>
            <a:r>
              <a:rPr lang="en-US" altLang="zh-CN" sz="1600" b="1" dirty="0"/>
              <a:t>Smart Agriculture</a:t>
            </a:r>
            <a:r>
              <a:rPr lang="zh-CN" altLang="en-US" sz="1600" b="1" dirty="0"/>
              <a:t>）温室大棚综合解决方案</a:t>
            </a: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8833" y="847854"/>
            <a:ext cx="3866334" cy="321691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324485" y="4607267"/>
            <a:ext cx="8300720" cy="163004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中国温度监控系统技术已达到国际先进水平，在智慧农业、工业制造、冷链物流等领域广泛应用。系统从单点监测发展至物联网集成、云端分析、远程控制的智能化架构，空气温湿度、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CO₂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、光照、土壤温湿度等多维度环境监控与自动化设备联动，形成完整的监测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-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分析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-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决策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-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执行闭环体系，代表国内智能化监控系统发展方向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86740" y="116625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国内现状</a:t>
            </a:r>
          </a:p>
        </p:txBody>
      </p:sp>
      <p:pic>
        <p:nvPicPr>
          <p:cNvPr id="24" name="图片 23" descr="图片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520" y="44450"/>
            <a:ext cx="5230495" cy="10788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0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fld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605" y="1268730"/>
            <a:ext cx="3941445" cy="2443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8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324485" y="4260041"/>
            <a:ext cx="8300720" cy="25533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国外温度测量技术已向高精度、数字化、智能化方向发展，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DS18B20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等数字温度传感器凭借精准测温和便捷通信优势，广泛应用于工业自动化和医疗领域。随着物联网和工业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4.0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的推进，智能温控系统正实现无线化、云端分析和自适应控制，欧美企业已将其集成到智能制造体系中，实现精准温控和质量追溯。</a:t>
            </a: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3077834" y="3643056"/>
            <a:ext cx="2988331" cy="506375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工业级高精度温度传感器</a:t>
            </a: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3444" y="1000063"/>
            <a:ext cx="2585765" cy="2585765"/>
          </a:xfrm>
          <a:prstGeom prst="rect">
            <a:avLst/>
          </a:prstGeom>
        </p:spPr>
      </p:pic>
      <p:sp>
        <p:nvSpPr>
          <p:cNvPr id="21" name="标题 20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22000" y="149647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国外现状</a:t>
            </a:r>
          </a:p>
        </p:txBody>
      </p:sp>
      <p:pic>
        <p:nvPicPr>
          <p:cNvPr id="24" name="图片 23" descr="图片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520" y="44450"/>
            <a:ext cx="5230495" cy="107886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73EA178-B809-E1B8-91B0-FA6D575226D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0091" y="1001550"/>
            <a:ext cx="2585765" cy="25857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0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fld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79513" y="1341119"/>
            <a:ext cx="4031654" cy="453615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800" dirty="0">
                <a:solidFill>
                  <a:schemeClr val="tx1"/>
                </a:solidFill>
                <a:latin typeface="+mn-lt"/>
                <a:ea typeface="+mn-ea"/>
              </a:rPr>
              <a:t>研究主要内容：本研究基于</a:t>
            </a: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</a:rPr>
              <a:t>STC89C52</a:t>
            </a:r>
            <a:r>
              <a:rPr lang="zh-CN" altLang="en-US" sz="1800" dirty="0">
                <a:solidFill>
                  <a:schemeClr val="tx1"/>
                </a:solidFill>
                <a:latin typeface="+mn-lt"/>
                <a:ea typeface="+mn-ea"/>
              </a:rPr>
              <a:t>与</a:t>
            </a: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</a:rPr>
              <a:t>ESP32</a:t>
            </a:r>
            <a:r>
              <a:rPr lang="zh-CN" altLang="en-US" sz="1800" dirty="0">
                <a:solidFill>
                  <a:schemeClr val="tx1"/>
                </a:solidFill>
                <a:latin typeface="+mn-lt"/>
                <a:ea typeface="+mn-ea"/>
              </a:rPr>
              <a:t>双芯片协同工作架构，设计实现智能温度监控系统。通过</a:t>
            </a: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</a:rPr>
              <a:t>DS18B20</a:t>
            </a:r>
            <a:r>
              <a:rPr lang="zh-CN" altLang="en-US" sz="1800" dirty="0">
                <a:solidFill>
                  <a:schemeClr val="tx1"/>
                </a:solidFill>
                <a:latin typeface="+mn-lt"/>
                <a:ea typeface="+mn-ea"/>
              </a:rPr>
              <a:t>传感器精确采集温度数据，结合</a:t>
            </a: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</a:rPr>
              <a:t>LED</a:t>
            </a:r>
            <a:r>
              <a:rPr lang="zh-CN" altLang="en-US" sz="1800" dirty="0">
                <a:solidFill>
                  <a:schemeClr val="tx1"/>
                </a:solidFill>
                <a:latin typeface="+mn-lt"/>
                <a:ea typeface="+mn-ea"/>
              </a:rPr>
              <a:t>动态显示和串口通信协议，实现本地实时监控；同时构建</a:t>
            </a:r>
            <a:r>
              <a:rPr lang="en-US" altLang="zh-CN" sz="1800" dirty="0" err="1">
                <a:solidFill>
                  <a:schemeClr val="tx1"/>
                </a:solidFill>
                <a:latin typeface="+mn-lt"/>
                <a:ea typeface="+mn-ea"/>
              </a:rPr>
              <a:t>WiFi</a:t>
            </a: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</a:rPr>
              <a:t> Web</a:t>
            </a:r>
            <a:r>
              <a:rPr lang="zh-CN" altLang="en-US" sz="1800" dirty="0">
                <a:solidFill>
                  <a:schemeClr val="tx1"/>
                </a:solidFill>
                <a:latin typeface="+mn-lt"/>
                <a:ea typeface="+mn-ea"/>
              </a:rPr>
              <a:t>服务器，支持远程数据查询和</a:t>
            </a: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</a:rPr>
              <a:t>HTML</a:t>
            </a:r>
            <a:r>
              <a:rPr lang="zh-CN" altLang="en-US" sz="1800" dirty="0">
                <a:solidFill>
                  <a:schemeClr val="tx1"/>
                </a:solidFill>
                <a:latin typeface="+mn-lt"/>
                <a:ea typeface="+mn-ea"/>
              </a:rPr>
              <a:t>界面展示。该系统创新性地将传统单片机控制与现代物联网技术深度融合，为智能制造、环境监测、冷链物流等领域的温度监控应用提供可靠的技术解决方案，推动工业控制系统向智能化、网络化方向发展。</a:t>
            </a:r>
          </a:p>
        </p:txBody>
      </p:sp>
      <p:sp>
        <p:nvSpPr>
          <p:cNvPr id="19" name="标题 18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86740" y="116625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课题研究背景意义</a:t>
            </a:r>
          </a:p>
        </p:txBody>
      </p:sp>
      <p:pic>
        <p:nvPicPr>
          <p:cNvPr id="23" name="图片 22" descr="图片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520" y="44450"/>
            <a:ext cx="5230495" cy="10788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5E2106E-519F-63A8-5281-26A80C832B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1167" y="980729"/>
            <a:ext cx="4297957" cy="490498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0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fld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2140" y="836930"/>
            <a:ext cx="7317105" cy="16986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zh-CN" altLang="en-US" sz="2000" kern="100" dirty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12140" y="5517515"/>
            <a:ext cx="7964805" cy="10274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优点：成本低，可靠性高，应用广泛</a:t>
            </a:r>
            <a:endParaRPr lang="en-US" altLang="zh-CN" sz="2000" dirty="0">
              <a:solidFill>
                <a:schemeClr val="tx1"/>
              </a:solidFill>
              <a:latin typeface="+mn-lt"/>
              <a:ea typeface="+mn-ea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缺点：功耗大，硬件复杂性高，只能显示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0-9</a:t>
            </a:r>
            <a:r>
              <a:rPr lang="zh-CN" altLang="en-US" sz="2000">
                <a:solidFill>
                  <a:schemeClr val="tx1"/>
                </a:solidFill>
                <a:latin typeface="+mn-lt"/>
                <a:ea typeface="+mn-ea"/>
              </a:rPr>
              <a:t>的数字和简单字母</a:t>
            </a:r>
            <a:endParaRPr lang="zh-CN" altLang="en-US" sz="20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683895" y="1052830"/>
            <a:ext cx="7665085" cy="1944122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r>
              <a:rPr lang="zh-CN" altLang="en-US" sz="2000" kern="100" dirty="0">
                <a:latin typeface="+mn-lt"/>
                <a:ea typeface="+mn-ea"/>
                <a:cs typeface="+mn-ea"/>
                <a:sym typeface="+mn-ea"/>
              </a:rPr>
              <a:t>功能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latin typeface="+mn-lt"/>
                <a:ea typeface="+mn-ea"/>
                <a:cs typeface="+mn-ea"/>
                <a:sym typeface="+mn-ea"/>
              </a:rPr>
              <a:t>1</a:t>
            </a:r>
            <a:r>
              <a:rPr lang="zh-CN" altLang="en-US" sz="2000" kern="100" dirty="0">
                <a:solidFill>
                  <a:schemeClr val="tx1"/>
                </a:solidFill>
                <a:effectLst/>
                <a:latin typeface="+mn-lt"/>
                <a:ea typeface="+mn-ea"/>
                <a:cs typeface="+mn-ea"/>
                <a:sym typeface="+mn-ea"/>
              </a:rPr>
              <a:t>：</a:t>
            </a:r>
            <a:r>
              <a:rPr lang="zh-CN" altLang="en-US" dirty="0"/>
              <a:t>通过微控制器精确控制四位数字的显示。电路采用经典的分时复用技术：微控制器</a:t>
            </a:r>
            <a:r>
              <a:rPr lang="en-US" altLang="zh-CN" dirty="0"/>
              <a:t>P0</a:t>
            </a:r>
            <a:r>
              <a:rPr lang="zh-CN" altLang="en-US" dirty="0"/>
              <a:t>口输出段选信号控制显示内容，通过</a:t>
            </a:r>
            <a:r>
              <a:rPr lang="en-US" altLang="zh-CN" dirty="0"/>
              <a:t>1K</a:t>
            </a:r>
            <a:r>
              <a:rPr lang="zh-CN" altLang="en-US" dirty="0"/>
              <a:t>排阻限流保护</a:t>
            </a:r>
            <a:r>
              <a:rPr lang="en-US" altLang="zh-CN" dirty="0"/>
              <a:t>,P2</a:t>
            </a:r>
            <a:r>
              <a:rPr lang="zh-CN" altLang="en-US" dirty="0"/>
              <a:t>口高位配合四个</a:t>
            </a:r>
            <a:r>
              <a:rPr lang="en-US" altLang="zh-CN" dirty="0"/>
              <a:t>NPN</a:t>
            </a:r>
            <a:r>
              <a:rPr lang="zh-CN" altLang="en-US" dirty="0"/>
              <a:t>三极管</a:t>
            </a:r>
            <a:r>
              <a:rPr lang="en-US" altLang="zh-CN" dirty="0"/>
              <a:t>9013</a:t>
            </a:r>
            <a:r>
              <a:rPr lang="zh-CN" altLang="en-US" dirty="0"/>
              <a:t>作为电子开关，轮流选通每位数码管的公共阴极。工作时按照</a:t>
            </a:r>
            <a:r>
              <a:rPr lang="en-US" altLang="zh-CN" dirty="0"/>
              <a:t>"</a:t>
            </a:r>
            <a:r>
              <a:rPr lang="zh-CN" altLang="en-US" dirty="0"/>
              <a:t>选位→送数→延时→选下一位</a:t>
            </a:r>
            <a:r>
              <a:rPr lang="en-US" altLang="zh-CN" dirty="0"/>
              <a:t>"</a:t>
            </a:r>
            <a:r>
              <a:rPr lang="zh-CN" altLang="en-US" dirty="0"/>
              <a:t>的循环流程高速扫描，利用人眼视觉暂留效应实现四位数字同时稳定显示。</a:t>
            </a:r>
          </a:p>
          <a:p>
            <a:pPr>
              <a:lnSpc>
                <a:spcPct val="150000"/>
              </a:lnSpc>
            </a:pPr>
            <a:endParaRPr lang="zh-CN" altLang="en-US" kern="100" dirty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  <a:p>
            <a:endParaRPr lang="zh-CN" altLang="en-US" kern="100" dirty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标题 19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21970" y="188380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总体方案设计</a:t>
            </a:r>
          </a:p>
        </p:txBody>
      </p:sp>
      <p:pic>
        <p:nvPicPr>
          <p:cNvPr id="23" name="图片 22" descr="图片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9520" y="44450"/>
            <a:ext cx="5230495" cy="107886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C2E6911-7C42-3D5E-769B-780EDC96699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84" r="1" b="-920"/>
          <a:stretch>
            <a:fillRect/>
          </a:stretch>
        </p:blipFill>
        <p:spPr>
          <a:xfrm>
            <a:off x="2843808" y="2932296"/>
            <a:ext cx="3382652" cy="258521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0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fld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3895" y="908685"/>
            <a:ext cx="7317105" cy="16363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zh-CN" altLang="zh-CN" sz="2000" kern="100" dirty="0">
              <a:solidFill>
                <a:schemeClr val="tx1"/>
              </a:solidFill>
              <a:effectLst/>
              <a:latin typeface="+mn-ea"/>
              <a:ea typeface="+mn-ea"/>
              <a:cs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188085" y="5805264"/>
            <a:ext cx="6410960" cy="10147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优点：电路设计简单，功能独立明确，抗干扰能力强</a:t>
            </a:r>
            <a:endParaRPr lang="en-US" altLang="zh-CN" sz="2000" dirty="0">
              <a:solidFill>
                <a:schemeClr val="tx1"/>
              </a:solidFill>
              <a:latin typeface="+mn-lt"/>
              <a:ea typeface="+mn-ea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缺点：</a:t>
            </a:r>
            <a:r>
              <a:rPr lang="en-US" altLang="zh-CN" sz="2000" dirty="0">
                <a:latin typeface="+mn-lt"/>
                <a:ea typeface="+mn-ea"/>
              </a:rPr>
              <a:t>IO</a:t>
            </a:r>
            <a:r>
              <a:rPr lang="zh-CN" altLang="en-US" sz="2000" dirty="0">
                <a:latin typeface="+mn-lt"/>
                <a:ea typeface="+mn-ea"/>
              </a:rPr>
              <a:t>口资源消耗大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，布线难度较高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864235" y="954802"/>
            <a:ext cx="7545705" cy="1322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200" b="1" kern="100" dirty="0">
                <a:latin typeface="宋体" panose="02010600030101010101" pitchFamily="2" charset="-122"/>
                <a:cs typeface="+mn-ea"/>
                <a:sym typeface="+mn-ea"/>
              </a:rPr>
              <a:t>功能</a:t>
            </a:r>
            <a:r>
              <a:rPr lang="en-US" altLang="zh-CN" sz="2200" b="1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cs typeface="+mn-ea"/>
                <a:sym typeface="+mn-ea"/>
              </a:rPr>
              <a:t>2</a:t>
            </a:r>
            <a:r>
              <a:rPr lang="zh-CN" altLang="en-US" sz="2200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cs typeface="+mn-ea"/>
                <a:sym typeface="+mn-ea"/>
              </a:rPr>
              <a:t>：第</a:t>
            </a:r>
            <a:r>
              <a:rPr lang="zh-CN" altLang="en-US" sz="2200" dirty="0">
                <a:latin typeface="宋体" panose="02010600030101010101" pitchFamily="2" charset="-122"/>
              </a:rPr>
              <a:t>一个按键用于调节设定的报警温度上限值，第二个按键用于调节设定的报警温度下限值，第三个按键用于查看当前的报警温度上限设置，第四个按键用于查看当前的报警温度下限设置。系统通过微控制器内部的上拉电阻检测按键状态，当某个按键被按下时，对应的</a:t>
            </a:r>
            <a:r>
              <a:rPr lang="en-US" altLang="zh-CN" sz="2200" dirty="0">
                <a:latin typeface="宋体" panose="02010600030101010101" pitchFamily="2" charset="-122"/>
              </a:rPr>
              <a:t>I/O</a:t>
            </a:r>
            <a:r>
              <a:rPr lang="zh-CN" altLang="en-US" sz="2200" dirty="0">
                <a:latin typeface="宋体" panose="02010600030101010101" pitchFamily="2" charset="-122"/>
              </a:rPr>
              <a:t>引脚电平从高变低，微控制器就能识别用户的操作意图，进而执行相应的功能</a:t>
            </a:r>
            <a:endParaRPr lang="zh-CN" altLang="en-US" sz="2200" kern="100" dirty="0">
              <a:solidFill>
                <a:schemeClr val="tx1"/>
              </a:solidFill>
              <a:effectLst/>
              <a:latin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20" name="标题 19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21970" y="116625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总体方案设计</a:t>
            </a:r>
          </a:p>
        </p:txBody>
      </p:sp>
      <p:pic>
        <p:nvPicPr>
          <p:cNvPr id="23" name="图片 22" descr="图片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9520" y="44450"/>
            <a:ext cx="5230495" cy="10788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3360304-5757-F081-CFF1-551A4D6F08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289673" y="3470967"/>
            <a:ext cx="2683360" cy="18793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5BEFA6-351E-0CED-EFFB-0C0AEA82D2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7770" y="3673336"/>
            <a:ext cx="4871737" cy="13220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0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fld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2140" y="836930"/>
            <a:ext cx="7317105" cy="16986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zh-CN" altLang="en-US" sz="2000" kern="100" dirty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12140" y="5641930"/>
            <a:ext cx="7964805" cy="10274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优点：</a:t>
            </a:r>
            <a:r>
              <a:rPr lang="zh-CN" altLang="en-US" sz="2000" dirty="0">
                <a:latin typeface="+mn-lt"/>
                <a:ea typeface="+mn-ea"/>
              </a:rPr>
              <a:t>技术创新，功能完善，精确可靠，远程便捷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，</a:t>
            </a:r>
            <a:r>
              <a:rPr lang="zh-CN" altLang="en-US" sz="2000" dirty="0">
                <a:latin typeface="+mn-lt"/>
                <a:ea typeface="+mn-ea"/>
              </a:rPr>
              <a:t>成本优化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。</a:t>
            </a:r>
          </a:p>
          <a:p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缺点：</a:t>
            </a:r>
            <a:r>
              <a:rPr lang="zh-CN" altLang="en-US" sz="2000" dirty="0">
                <a:latin typeface="+mn-lt"/>
                <a:ea typeface="+mn-ea"/>
              </a:rPr>
              <a:t>系统复杂，功耗偏高，协议简单，扩展受限，实时影响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。</a:t>
            </a: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35497" y="1052830"/>
            <a:ext cx="8856984" cy="237617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000" kern="100" dirty="0">
                <a:latin typeface="+mn-lt"/>
                <a:ea typeface="+mn-ea"/>
                <a:cs typeface="+mn-ea"/>
                <a:sym typeface="+mn-ea"/>
              </a:rPr>
              <a:t>功能三</a:t>
            </a:r>
            <a:r>
              <a:rPr lang="zh-CN" altLang="en-US" sz="2000" kern="100" dirty="0">
                <a:solidFill>
                  <a:schemeClr val="tx1"/>
                </a:solidFill>
                <a:effectLst/>
                <a:latin typeface="+mn-lt"/>
                <a:ea typeface="+mn-ea"/>
                <a:cs typeface="+mn-ea"/>
                <a:sym typeface="+mn-ea"/>
              </a:rPr>
              <a:t>：</a:t>
            </a:r>
            <a:r>
              <a:rPr lang="en-US" altLang="zh-CN" sz="2200" kern="100" dirty="0">
                <a:latin typeface="宋体" panose="02010600030101010101" pitchFamily="2" charset="-122"/>
                <a:cs typeface="+mn-ea"/>
                <a:sym typeface="+mn-ea"/>
              </a:rPr>
              <a:t>STC89C52RC</a:t>
            </a:r>
            <a:r>
              <a:rPr lang="zh-CN" altLang="en-US" sz="2200" kern="100" dirty="0">
                <a:latin typeface="宋体" panose="02010600030101010101" pitchFamily="2" charset="-122"/>
                <a:cs typeface="+mn-ea"/>
                <a:sym typeface="+mn-ea"/>
              </a:rPr>
              <a:t>单片机通过</a:t>
            </a:r>
            <a:r>
              <a:rPr lang="en-US" altLang="zh-CN" sz="2200" kern="100" dirty="0">
                <a:latin typeface="宋体" panose="02010600030101010101" pitchFamily="2" charset="-122"/>
                <a:cs typeface="+mn-ea"/>
                <a:sym typeface="+mn-ea"/>
              </a:rPr>
              <a:t>DS18B20</a:t>
            </a:r>
            <a:r>
              <a:rPr lang="zh-CN" altLang="en-US" sz="2200" kern="100" dirty="0">
                <a:latin typeface="宋体" panose="02010600030101010101" pitchFamily="2" charset="-122"/>
                <a:cs typeface="+mn-ea"/>
                <a:sym typeface="+mn-ea"/>
              </a:rPr>
              <a:t>传感器精确采集温度数据，按照</a:t>
            </a:r>
            <a:r>
              <a:rPr lang="en-US" altLang="zh-CN" sz="2200" kern="100" dirty="0">
                <a:latin typeface="宋体" panose="02010600030101010101" pitchFamily="2" charset="-122"/>
                <a:cs typeface="+mn-ea"/>
                <a:sym typeface="+mn-ea"/>
              </a:rPr>
              <a:t>"$51,TMS[</a:t>
            </a:r>
            <a:r>
              <a:rPr lang="zh-CN" altLang="en-US" sz="2200" kern="100" dirty="0">
                <a:latin typeface="宋体" panose="02010600030101010101" pitchFamily="2" charset="-122"/>
                <a:cs typeface="+mn-ea"/>
                <a:sym typeface="+mn-ea"/>
              </a:rPr>
              <a:t>温度值</a:t>
            </a:r>
            <a:r>
              <a:rPr lang="en-US" altLang="zh-CN" sz="2200" kern="100" dirty="0">
                <a:latin typeface="宋体" panose="02010600030101010101" pitchFamily="2" charset="-122"/>
                <a:cs typeface="+mn-ea"/>
                <a:sym typeface="+mn-ea"/>
              </a:rPr>
              <a:t>]#"</a:t>
            </a:r>
            <a:r>
              <a:rPr lang="zh-CN" altLang="en-US" sz="2200" kern="100" dirty="0">
                <a:latin typeface="宋体" panose="02010600030101010101" pitchFamily="2" charset="-122"/>
                <a:cs typeface="+mn-ea"/>
                <a:sym typeface="+mn-ea"/>
              </a:rPr>
              <a:t>串口通信协议格式发送至</a:t>
            </a:r>
            <a:r>
              <a:rPr lang="en-US" altLang="zh-CN" sz="2200" kern="100" dirty="0">
                <a:latin typeface="宋体" panose="02010600030101010101" pitchFamily="2" charset="-122"/>
                <a:cs typeface="+mn-ea"/>
                <a:sym typeface="+mn-ea"/>
              </a:rPr>
              <a:t>ESP32</a:t>
            </a:r>
            <a:r>
              <a:rPr lang="zh-CN" altLang="en-US" sz="2200" kern="100" dirty="0">
                <a:latin typeface="宋体" panose="02010600030101010101" pitchFamily="2" charset="-122"/>
                <a:cs typeface="+mn-ea"/>
                <a:sym typeface="+mn-ea"/>
              </a:rPr>
              <a:t>微控制器。</a:t>
            </a:r>
            <a:r>
              <a:rPr lang="en-US" altLang="zh-CN" sz="2200" kern="100" dirty="0">
                <a:latin typeface="宋体" panose="02010600030101010101" pitchFamily="2" charset="-122"/>
                <a:cs typeface="+mn-ea"/>
                <a:sym typeface="+mn-ea"/>
              </a:rPr>
              <a:t>ESP32</a:t>
            </a:r>
            <a:r>
              <a:rPr lang="zh-CN" altLang="en-US" sz="2200" kern="100" dirty="0">
                <a:latin typeface="宋体" panose="02010600030101010101" pitchFamily="2" charset="-122"/>
                <a:cs typeface="+mn-ea"/>
                <a:sym typeface="+mn-ea"/>
              </a:rPr>
              <a:t>在主循环中接收温度数据，完成数据解析和处理后，通过串口输出当前温度信息，并可同时通过网络服务器提供远程访问。该双芯片协同架构实现了本地数据采集与网络通信的有机结合，为温度监控系统提供可靠的硬件平台支撑。</a:t>
            </a:r>
            <a:endParaRPr lang="zh-CN" altLang="en-US" sz="2200" kern="100" dirty="0">
              <a:solidFill>
                <a:schemeClr val="tx1"/>
              </a:solidFill>
              <a:effectLst/>
              <a:latin typeface="宋体" panose="02010600030101010101" pitchFamily="2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kern="100" dirty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  <a:p>
            <a:endParaRPr lang="zh-CN" altLang="en-US" kern="100" dirty="0">
              <a:solidFill>
                <a:schemeClr val="tx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标题 19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21970" y="188380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总体方案设计</a:t>
            </a:r>
          </a:p>
        </p:txBody>
      </p:sp>
      <p:pic>
        <p:nvPicPr>
          <p:cNvPr id="23" name="图片 22" descr="图片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9520" y="44450"/>
            <a:ext cx="5230495" cy="107886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B1C5971-E6E6-9395-F99E-C56C6A0512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2919" y="4213129"/>
            <a:ext cx="4698102" cy="14137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AFFC00E-1A21-DF1E-6CC0-31944DB842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5616" y="3276994"/>
            <a:ext cx="7227555" cy="104545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0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fld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3895" y="908685"/>
            <a:ext cx="7317105" cy="16363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zh-CN" altLang="zh-CN" sz="2000" kern="100" dirty="0">
              <a:solidFill>
                <a:schemeClr val="tx1"/>
              </a:solidFill>
              <a:effectLst/>
              <a:latin typeface="+mn-ea"/>
              <a:ea typeface="+mn-ea"/>
              <a:cs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188085" y="5517515"/>
            <a:ext cx="6410960" cy="1014730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优点：无线连接，独立网络，移动便捷，无需路由器，即时部署</a:t>
            </a:r>
          </a:p>
          <a:p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缺点：功耗较高，连接数限制，距离限制，安全风险，干扰敏感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864235" y="1143635"/>
            <a:ext cx="7545705" cy="13220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2000" kern="100" dirty="0">
                <a:latin typeface="+mn-ea"/>
                <a:ea typeface="+mn-ea"/>
                <a:cs typeface="+mn-ea"/>
                <a:sym typeface="+mn-ea"/>
              </a:rPr>
              <a:t>功能</a:t>
            </a:r>
            <a:r>
              <a:rPr lang="en-US" altLang="zh-CN" sz="2000" kern="100" dirty="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lang="zh-CN" altLang="en-US" sz="2000" kern="100" dirty="0">
                <a:solidFill>
                  <a:schemeClr val="tx1"/>
                </a:solidFill>
                <a:effectLst/>
                <a:latin typeface="+mn-ea"/>
                <a:ea typeface="+mn-ea"/>
                <a:cs typeface="+mn-ea"/>
                <a:sym typeface="+mn-ea"/>
              </a:rPr>
              <a:t>：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cs typeface="+mn-ea"/>
                <a:sym typeface="+mn-ea"/>
              </a:rPr>
              <a:t>ESP32</a:t>
            </a:r>
            <a:r>
              <a:rPr lang="zh-CN" altLang="en-US" sz="2000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cs typeface="+mn-ea"/>
                <a:sym typeface="+mn-ea"/>
              </a:rPr>
              <a:t>通过</a:t>
            </a:r>
            <a:r>
              <a:rPr lang="en-US" altLang="zh-CN" sz="2000" kern="100" dirty="0" err="1">
                <a:solidFill>
                  <a:schemeClr val="tx1"/>
                </a:solidFill>
                <a:effectLst/>
                <a:latin typeface="宋体" panose="02010600030101010101" pitchFamily="2" charset="-122"/>
                <a:cs typeface="+mn-ea"/>
                <a:sym typeface="+mn-ea"/>
              </a:rPr>
              <a:t>WiFi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cs typeface="+mn-ea"/>
                <a:sym typeface="+mn-ea"/>
              </a:rPr>
              <a:t> AP</a:t>
            </a:r>
            <a:r>
              <a:rPr lang="zh-CN" altLang="en-US" sz="2000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cs typeface="+mn-ea"/>
                <a:sym typeface="+mn-ea"/>
              </a:rPr>
              <a:t>模式创建独立无线网络并构建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cs typeface="+mn-ea"/>
                <a:sym typeface="+mn-ea"/>
              </a:rPr>
              <a:t>Web</a:t>
            </a:r>
            <a:r>
              <a:rPr lang="zh-CN" altLang="en-US" sz="2000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cs typeface="+mn-ea"/>
                <a:sym typeface="+mn-ea"/>
              </a:rPr>
              <a:t>服务器，实现温度数据实时网页展示。该技术为物联网监控系统提供低成本、便捷的网络化解决方案，支持多终端远程访问，推动无线传感网络技术发展。</a:t>
            </a:r>
          </a:p>
        </p:txBody>
      </p:sp>
      <p:sp>
        <p:nvSpPr>
          <p:cNvPr id="20" name="标题 19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21970" y="116625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总体方案设计</a:t>
            </a:r>
          </a:p>
        </p:txBody>
      </p:sp>
      <p:pic>
        <p:nvPicPr>
          <p:cNvPr id="23" name="图片 22" descr="图片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9520" y="44450"/>
            <a:ext cx="5230495" cy="10788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1B2A85E-A19B-3975-6EED-0CCBF502A0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1686" y="2486025"/>
            <a:ext cx="2320568" cy="29521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0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1400" dirty="0">
                <a:solidFill>
                  <a:schemeClr val="tx1"/>
                </a:solidFill>
                <a:latin typeface="+mn-lt"/>
                <a:ea typeface="+mn-ea"/>
              </a:rPr>
              <a:t>11</a:t>
            </a:fld>
            <a:endParaRPr lang="zh-CN" altLang="en-US" sz="14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42875" y="1052831"/>
            <a:ext cx="8543865" cy="1368057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r>
              <a:rPr lang="zh-CN" altLang="en-US" sz="2000" dirty="0">
                <a:solidFill>
                  <a:srgbClr val="FE9C00"/>
                </a:solidFill>
                <a:latin typeface="+mn-lt"/>
                <a:ea typeface="+mn-ea"/>
              </a:rPr>
              <a:t>经济效益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: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市场规模从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95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亿元增长至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396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亿元，年复合增长率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15%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，成本节约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372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亿元，效率提升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278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亿元，投资回报率从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15%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提升至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221%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，呈现加速增长态势。。</a:t>
            </a:r>
          </a:p>
          <a:p>
            <a:r>
              <a:rPr lang="zh-CN" altLang="en-US" sz="2000" dirty="0">
                <a:solidFill>
                  <a:srgbClr val="FE9C00"/>
                </a:solidFill>
                <a:latin typeface="+mn-lt"/>
                <a:ea typeface="+mn-ea"/>
              </a:rPr>
              <a:t>成本核算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: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投资回收期为</a:t>
            </a:r>
            <a:r>
              <a:rPr lang="en-US" altLang="zh-CN" sz="2000" dirty="0">
                <a:latin typeface="+mn-lt"/>
                <a:ea typeface="+mn-ea"/>
              </a:rPr>
              <a:t>3-5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年（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2027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年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ROI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突破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100%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），边际效益递增，规模效应显著，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2030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年综合效益指数达满分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100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</a:rPr>
              <a:t>，投入产出比持续优化。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3904" y="2448694"/>
            <a:ext cx="6705672" cy="4392662"/>
          </a:xfrm>
          <a:prstGeom prst="rect">
            <a:avLst/>
          </a:prstGeom>
        </p:spPr>
      </p:pic>
      <p:sp>
        <p:nvSpPr>
          <p:cNvPr id="19" name="标题 18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86740" y="116625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社会、经济效益分析</a:t>
            </a:r>
          </a:p>
        </p:txBody>
      </p:sp>
      <p:pic>
        <p:nvPicPr>
          <p:cNvPr id="23" name="图片 22" descr="图片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9520" y="44450"/>
            <a:ext cx="5230495" cy="10788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10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fld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1500" y="928370"/>
            <a:ext cx="731710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zh-CN" sz="2000" kern="100" dirty="0">
              <a:solidFill>
                <a:schemeClr val="accent1">
                  <a:lumMod val="50000"/>
                </a:schemeClr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zh-CN" sz="2000" kern="100" dirty="0">
              <a:solidFill>
                <a:schemeClr val="accent1"/>
              </a:solidFill>
              <a:effectLst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33985" y="908685"/>
            <a:ext cx="8876030" cy="4942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1600" b="1" dirty="0">
              <a:latin typeface="+mn-lt"/>
              <a:ea typeface="+mn-ea"/>
            </a:endParaRPr>
          </a:p>
          <a:p>
            <a:endParaRPr lang="en-US" altLang="zh-CN" sz="1600" b="1" dirty="0">
              <a:latin typeface="+mn-lt"/>
              <a:ea typeface="+mn-ea"/>
            </a:endParaRPr>
          </a:p>
          <a:p>
            <a:endParaRPr lang="en-US" altLang="zh-CN" sz="1600" b="1" dirty="0">
              <a:latin typeface="+mn-lt"/>
              <a:ea typeface="+mn-ea"/>
            </a:endParaRPr>
          </a:p>
          <a:p>
            <a:endParaRPr lang="en-US" altLang="zh-CN" sz="1800" b="1" dirty="0">
              <a:solidFill>
                <a:schemeClr val="tx1"/>
              </a:solidFill>
              <a:latin typeface="+mn-lt"/>
              <a:ea typeface="+mn-ea"/>
            </a:endParaRPr>
          </a:p>
          <a:p>
            <a:r>
              <a:rPr lang="zh-CN" altLang="en-US" sz="1800" b="1" dirty="0">
                <a:latin typeface="+mn-lt"/>
                <a:ea typeface="+mn-ea"/>
              </a:rPr>
              <a:t>技术升级： 集成更高性能芯片、采用</a:t>
            </a:r>
            <a:r>
              <a:rPr lang="en-US" altLang="zh-CN" sz="1800" b="1" dirty="0">
                <a:latin typeface="+mn-lt"/>
                <a:ea typeface="+mn-ea"/>
              </a:rPr>
              <a:t>AI</a:t>
            </a:r>
            <a:r>
              <a:rPr lang="zh-CN" altLang="en-US" sz="1800" b="1" dirty="0">
                <a:latin typeface="+mn-lt"/>
                <a:ea typeface="+mn-ea"/>
              </a:rPr>
              <a:t>边缘计算、实现多传感器融合监测。</a:t>
            </a:r>
          </a:p>
          <a:p>
            <a:endParaRPr lang="zh-CN" altLang="en-US" sz="1800" b="1" dirty="0">
              <a:latin typeface="+mn-lt"/>
              <a:ea typeface="+mn-ea"/>
            </a:endParaRPr>
          </a:p>
          <a:p>
            <a:r>
              <a:rPr lang="zh-CN" altLang="en-US" sz="1800" b="1" dirty="0">
                <a:latin typeface="+mn-lt"/>
                <a:ea typeface="+mn-ea"/>
              </a:rPr>
              <a:t>功能扩展： 接入云平台大数据分析、集成预测性维护、开发移动端</a:t>
            </a:r>
            <a:r>
              <a:rPr lang="en-US" altLang="zh-CN" sz="1800" b="1" dirty="0">
                <a:latin typeface="+mn-lt"/>
                <a:ea typeface="+mn-ea"/>
              </a:rPr>
              <a:t>APP</a:t>
            </a:r>
            <a:r>
              <a:rPr lang="zh-CN" altLang="en-US" sz="1800" b="1" dirty="0">
                <a:latin typeface="+mn-lt"/>
                <a:ea typeface="+mn-ea"/>
              </a:rPr>
              <a:t>、实现远程升    </a:t>
            </a:r>
            <a:r>
              <a:rPr lang="en-US" altLang="zh-CN" sz="1800" b="1" dirty="0">
                <a:latin typeface="+mn-lt"/>
                <a:ea typeface="+mn-ea"/>
              </a:rPr>
              <a:t>	     </a:t>
            </a:r>
            <a:r>
              <a:rPr lang="zh-CN" altLang="en-US" sz="1800" b="1" dirty="0">
                <a:latin typeface="+mn-lt"/>
                <a:ea typeface="+mn-ea"/>
              </a:rPr>
              <a:t>级。</a:t>
            </a:r>
          </a:p>
          <a:p>
            <a:endParaRPr lang="zh-CN" altLang="en-US" sz="1800" b="1" dirty="0">
              <a:latin typeface="+mn-lt"/>
              <a:ea typeface="+mn-ea"/>
            </a:endParaRPr>
          </a:p>
          <a:p>
            <a:r>
              <a:rPr lang="zh-CN" altLang="en-US" sz="1800" b="1" dirty="0">
                <a:latin typeface="+mn-lt"/>
                <a:ea typeface="+mn-ea"/>
              </a:rPr>
              <a:t>应用拓展： 扩展至智慧医疗、工业</a:t>
            </a:r>
            <a:r>
              <a:rPr lang="en-US" altLang="zh-CN" sz="1800" b="1" dirty="0">
                <a:latin typeface="+mn-lt"/>
                <a:ea typeface="+mn-ea"/>
              </a:rPr>
              <a:t>4.0</a:t>
            </a:r>
            <a:r>
              <a:rPr lang="zh-CN" altLang="en-US" sz="1800" b="1" dirty="0">
                <a:latin typeface="+mn-lt"/>
                <a:ea typeface="+mn-ea"/>
              </a:rPr>
              <a:t>、冷链物流、智能建筑等领域。</a:t>
            </a:r>
          </a:p>
          <a:p>
            <a:endParaRPr lang="zh-CN" altLang="en-US" sz="1800" b="1" dirty="0">
              <a:latin typeface="+mn-lt"/>
              <a:ea typeface="+mn-ea"/>
            </a:endParaRPr>
          </a:p>
          <a:p>
            <a:r>
              <a:rPr lang="zh-CN" altLang="en-US" sz="1800" b="1" dirty="0">
                <a:latin typeface="+mn-lt"/>
                <a:ea typeface="+mn-ea"/>
              </a:rPr>
              <a:t>用户体验： 优化人机交互界面、开发智能告警系统、实现自动化控制策略。</a:t>
            </a:r>
          </a:p>
          <a:p>
            <a:endParaRPr lang="zh-CN" altLang="en-US" sz="1800" b="1" dirty="0">
              <a:latin typeface="+mn-lt"/>
              <a:ea typeface="+mn-ea"/>
            </a:endParaRPr>
          </a:p>
          <a:p>
            <a:r>
              <a:rPr lang="zh-CN" altLang="en-US" sz="1800" b="1" dirty="0">
                <a:latin typeface="+mn-lt"/>
                <a:ea typeface="+mn-ea"/>
              </a:rPr>
              <a:t>成本优化： 推动模块化设计、规模化生产、标准化部署，降低整体成本。</a:t>
            </a:r>
            <a:endParaRPr lang="zh-CN" altLang="en-US" sz="1800" b="1" dirty="0">
              <a:solidFill>
                <a:schemeClr val="tx1"/>
              </a:solidFill>
              <a:latin typeface="+mn-lt"/>
              <a:ea typeface="+mn-ea"/>
            </a:endParaRPr>
          </a:p>
          <a:p>
            <a:endParaRPr lang="zh-CN" altLang="en-US" sz="1600" b="1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" name="标题 2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39750" y="116625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未来展望</a:t>
            </a:r>
          </a:p>
        </p:txBody>
      </p:sp>
      <p:pic>
        <p:nvPicPr>
          <p:cNvPr id="26" name="图片 25" descr="图片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520" y="44450"/>
            <a:ext cx="5230495" cy="10788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title" idx="6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4500" dirty="0"/>
              <a:t>谢谢各位</a:t>
            </a:r>
            <a:br>
              <a:rPr altLang="en-US" sz="4500" dirty="0"/>
            </a:br>
            <a:endParaRPr altLang="en-US" sz="4500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</a:pPr>
            <a:r>
              <a:rPr lang="zh-CN" altLang="en-US" sz="1400" dirty="0"/>
              <a:t>雷杰</a:t>
            </a:r>
            <a:endParaRPr altLang="en-US" sz="1400" dirty="0"/>
          </a:p>
        </p:txBody>
      </p:sp>
      <p:pic>
        <p:nvPicPr>
          <p:cNvPr id="25" name="图片 24" descr="图片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9520" y="44450"/>
            <a:ext cx="5230495" cy="10788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03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1"/>
  <p:tag name="KSO_WM_TEMPLATE_THUMBS_INDEX" val="1、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 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titlesty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311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1"/>
  <p:tag name="KSO_WM_SLIDE_LAYOUT" val="a_b_f"/>
  <p:tag name="KSO_WM_SLIDE_LAYOUT_CNT" val="1_1_1"/>
  <p:tag name="KSO_WM_TEMPLATE_THUMBS_INDEX" val="1、9"/>
  <p:tag name="KSO_WM_SLIDE_CONTENT_AREA" val="{&quot;left&quot;:&quot;312.85&quot;,&quot;top&quot;:&quot;117.3&quot;,&quot;width&quot;:&quot;619.95&quot;,&quot;height&quot;:&quot;244.5&quot;}"/>
  <p:tag name="KSO_WM_SLIDE_THEME_ID" val="3303377"/>
  <p:tag name="KSO_WM_SLIDE_THEME_NAME" val="渐变胶囊简约风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311_1*b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CONTENT_GROUP_TYPE" val="contentchip"/>
  <p:tag name="KSO_WM_UNIT_PRESET_TEXT" val=" WPS,a click to unlimited possibilities"/>
  <p:tag name="KSO_WM_UNIT_TEXT_TYPE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1*a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"/>
  <p:tag name="KSO_WM_UNIT_TEXT_TYPE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1_1*f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CONTENT_GROUP_TYPE" val="contentchip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1_1*f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UNIT_CONTENT_GROUP_TYPE" val="contentchip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311_5"/>
  <p:tag name="KSO_WM_TEMPLATE_SUBCATEGORY" val="29"/>
  <p:tag name="KSO_WM_TEMPLATE_MASTER_TYPE" val="0"/>
  <p:tag name="KSO_WM_TEMPLATE_COLOR_TYPE" val="0"/>
  <p:tag name="KSO_WM_SLIDE_ITEM_CNT" val="5"/>
  <p:tag name="KSO_WM_SLIDE_INDEX" val="5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0311"/>
  <p:tag name="KSO_WM_SLIDE_LAYOUT" val="a_l"/>
  <p:tag name="KSO_WM_SLIDE_LAYOUT_CNT" val="1_1"/>
  <p:tag name="KSO_WM_SLIDE_TYPE" val="contents"/>
  <p:tag name="KSO_WM_SLIDE_SUBTYPE" val="diag"/>
  <p:tag name="KSO_WM_SLIDE_THEME_ID" val="3303377"/>
  <p:tag name="KSO_WM_SLIDE_THEME_NAME" val="渐变胶囊简约风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5*a*1"/>
  <p:tag name="KSO_WM_TEMPLATE_CATEGORY" val="custom"/>
  <p:tag name="KSO_WM_TEMPLATE_INDEX" val="20230311"/>
  <p:tag name="KSO_WM_UNIT_LAYERLEVEL" val="1"/>
  <p:tag name="KSO_WM_TAG_VERSION" val="3.0"/>
  <p:tag name="KSO_WM_BEAUTIFY_FLAG" val="#wm#"/>
  <p:tag name="KSO_WM_DIAGRAM_GROUP_CODE" val="l1-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311_5*l_h_i*1_1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38.6035461425781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311_5*l_h_f*1_1_1"/>
  <p:tag name="KSO_WM_DIAGRAM_VERSION" val="3"/>
  <p:tag name="KSO_WM_DIAGRAM_MAX_ITEMCNT" val="6"/>
  <p:tag name="KSO_WM_DIAGRAM_MIN_ITEMCNT" val="2"/>
  <p:tag name="KSO_WM_DIAGRAM_VIRTUALLY_FRAME" val="{&quot;height&quot;:438.6035461425781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311_5*l_h_i*1_2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38.6035461425781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311_5*l_h_f*1_2_1"/>
  <p:tag name="KSO_WM_DIAGRAM_VERSION" val="3"/>
  <p:tag name="KSO_WM_DIAGRAM_MAX_ITEMCNT" val="6"/>
  <p:tag name="KSO_WM_DIAGRAM_MIN_ITEMCNT" val="2"/>
  <p:tag name="KSO_WM_DIAGRAM_VIRTUALLY_FRAME" val="{&quot;height&quot;:438.6035461425781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311_5*l_h_i*1_3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38.6035461425781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311_5*l_h_i*1_4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38.6035461425781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230311_5*l_h_i*1_5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38.6035461425781,&quot;width&quot;:396.6141662597656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5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311_5*l_h_f*1_5_1"/>
  <p:tag name="KSO_WM_DIAGRAM_VERSION" val="3"/>
  <p:tag name="KSO_WM_DIAGRAM_MAX_ITEMCNT" val="6"/>
  <p:tag name="KSO_WM_DIAGRAM_MIN_ITEMCNT" val="2"/>
  <p:tag name="KSO_WM_DIAGRAM_VIRTUALLY_FRAME" val="{&quot;height&quot;:438.6035461425781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311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311_5*l_h_f*1_2_1"/>
  <p:tag name="KSO_WM_DIAGRAM_VERSION" val="3"/>
  <p:tag name="KSO_WM_DIAGRAM_MAX_ITEMCNT" val="6"/>
  <p:tag name="KSO_WM_DIAGRAM_MIN_ITEMCNT" val="2"/>
  <p:tag name="KSO_WM_DIAGRAM_VIRTUALLY_FRAME" val="{&quot;height&quot;:438.6035461425781,&quot;width&quot;:396.6141662597656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PRESET_TEXT" val="单击添加目录标题"/>
  <p:tag name="KSO_WM_UNIT_TEXT_TYP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1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i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j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j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1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i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1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i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1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i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1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i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1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i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1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i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1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i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1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9"/>
  <p:tag name="KSO_WM_UNIT_TYPE" val="f"/>
  <p:tag name="KSO_WM_BEAUTIFY_FLAG" val="#wm#"/>
  <p:tag name="KSO_WM_UNIT_SUBTYPE" val="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SLIDE_ID" val="custom20230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11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i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  <p:tag name="KSO_WM_SLIDE_THEME_ID" val="3303377"/>
  <p:tag name="KSO_WM_SLIDE_THEME_NAME" val="渐变胶囊简约风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1_9*a*1"/>
  <p:tag name="KSO_WM_TEMPLATE_CATEGORY" val="custom"/>
  <p:tag name="KSO_WM_TEMPLATE_INDEX" val="20230311"/>
  <p:tag name="KSO_WM_UNIT_LAYERLEVEL" val="1"/>
  <p:tag name="KSO_WM_TAG_VERSION" val="3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1_9*f*1"/>
  <p:tag name="KSO_WM_TEMPLATE_CATEGORY" val="custom"/>
  <p:tag name="KSO_WM_TEMPLATE_INDEX" val="20230311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渐变胶囊简约风">
  <a:themeElements>
    <a:clrScheme name="自定义 17">
      <a:dk1>
        <a:srgbClr val="000000"/>
      </a:dk1>
      <a:lt1>
        <a:srgbClr val="FFFFFF"/>
      </a:lt1>
      <a:dk2>
        <a:srgbClr val="32107E"/>
      </a:dk2>
      <a:lt2>
        <a:srgbClr val="D8E4FB"/>
      </a:lt2>
      <a:accent1>
        <a:srgbClr val="3A76E9"/>
      </a:accent1>
      <a:accent2>
        <a:srgbClr val="6868EA"/>
      </a:accent2>
      <a:accent3>
        <a:srgbClr val="8152EA"/>
      </a:accent3>
      <a:accent4>
        <a:srgbClr val="279EEA"/>
      </a:accent4>
      <a:accent5>
        <a:srgbClr val="13C7EC"/>
      </a:accent5>
      <a:accent6>
        <a:srgbClr val="36D8D4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tp1300[1]</Template>
  <TotalTime>159</TotalTime>
  <Words>1157</Words>
  <Application>Microsoft Office PowerPoint</Application>
  <PresentationFormat>全屏显示(4:3)</PresentationFormat>
  <Paragraphs>85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Inter</vt:lpstr>
      <vt:lpstr>MiSans</vt:lpstr>
      <vt:lpstr>宋体</vt:lpstr>
      <vt:lpstr>Arial</vt:lpstr>
      <vt:lpstr>Calibri</vt:lpstr>
      <vt:lpstr>Tahoma</vt:lpstr>
      <vt:lpstr>Times New Roman</vt:lpstr>
      <vt:lpstr>Office 主题</vt:lpstr>
      <vt:lpstr>2_Office 主题</vt:lpstr>
      <vt:lpstr>1_Office 主题</vt:lpstr>
      <vt:lpstr>渐变胶囊简约风</vt:lpstr>
      <vt:lpstr>基于51单片机及DS18B20温度传感器的数字温度计设计</vt:lpstr>
      <vt:lpstr>目录</vt:lpstr>
      <vt:lpstr>课题研究背景意义</vt:lpstr>
      <vt:lpstr>国内现状</vt:lpstr>
      <vt:lpstr>国外现状</vt:lpstr>
      <vt:lpstr>课题研究背景意义</vt:lpstr>
      <vt:lpstr>总体方案设计</vt:lpstr>
      <vt:lpstr>总体方案设计</vt:lpstr>
      <vt:lpstr>总体方案设计</vt:lpstr>
      <vt:lpstr>总体方案设计</vt:lpstr>
      <vt:lpstr>社会、经济效益分析</vt:lpstr>
      <vt:lpstr>未来展望</vt:lpstr>
      <vt:lpstr>谢谢各位 </vt:lpstr>
    </vt:vector>
  </TitlesOfParts>
  <Company>rsb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Your Country</dc:title>
  <dc:creator>cupfu</dc:creator>
  <cp:lastModifiedBy>杰 雷</cp:lastModifiedBy>
  <cp:revision>528</cp:revision>
  <dcterms:created xsi:type="dcterms:W3CDTF">2003-01-10T05:42:00Z</dcterms:created>
  <dcterms:modified xsi:type="dcterms:W3CDTF">2025-12-10T16:13:55Z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F12241FAC94F4ECF99C8B31D868E9060_12</vt:lpwstr>
  </property>
</Properties>
</file>